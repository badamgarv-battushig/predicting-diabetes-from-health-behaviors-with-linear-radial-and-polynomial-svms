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webextensions/webextension1.xml" ContentType="application/vnd.ms-office.webextension+xml"/>
  <Override PartName="/ppt/webextensions/webextension2.xml" ContentType="application/vnd.ms-office.webextensio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43891200" cy="329184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14D6E"/>
    <a:srgbClr val="2B67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p:scale>
          <a:sx n="45" d="100"/>
          <a:sy n="45" d="100"/>
        </p:scale>
        <p:origin x="-66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microsoft.com/office/2011/relationships/webextension" Target="../webextensions/webextension1.xml"/><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microsoft.com/office/2011/relationships/webextension" Target="../webextensions/webextension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background">
            <a:extLst>
              <a:ext uri="{FF2B5EF4-FFF2-40B4-BE49-F238E27FC236}">
                <a16:creationId xmlns:a16="http://schemas.microsoft.com/office/drawing/2014/main" id="{A03F7F91-F873-4902-9A93-316FF9370CD3}"/>
              </a:ext>
            </a:extLst>
          </p:cNvPr>
          <p:cNvSpPr>
            <a:spLocks noGrp="1"/>
          </p:cNvSpPr>
          <p:nvPr/>
        </p:nvSpPr>
        <p:spPr>
          <a:xfrm>
            <a:off x="-38102" y="389552"/>
            <a:ext cx="44285778" cy="32617117"/>
          </a:xfrm>
          <a:prstGeom prst="rect">
            <a:avLst/>
          </a:prstGeom>
          <a:ln/>
        </p:spPr>
        <p:style>
          <a:lnRef idx="2">
            <a:schemeClr val="accent1"/>
          </a:lnRef>
          <a:fillRef idx="1">
            <a:schemeClr val="lt1"/>
          </a:fillRef>
          <a:effectRef idx="0">
            <a:schemeClr val="accent1"/>
          </a:effectRef>
          <a:fontRef idx="minor">
            <a:schemeClr val="dk1"/>
          </a:fontRef>
        </p:style>
        <p:txBody>
          <a:bodyPr/>
          <a:lstStyle/>
          <a:p>
            <a:endParaRPr lang="en-US" dirty="0"/>
          </a:p>
        </p:txBody>
      </p:sp>
      <p:sp>
        <p:nvSpPr>
          <p:cNvPr id="2" name="title-bg">
            <a:extLst>
              <a:ext uri="{FF2B5EF4-FFF2-40B4-BE49-F238E27FC236}">
                <a16:creationId xmlns:a16="http://schemas.microsoft.com/office/drawing/2014/main" id="{AC0A4018-CE2B-4DB3-9AF3-A5A106E91888}"/>
              </a:ext>
            </a:extLst>
          </p:cNvPr>
          <p:cNvSpPr>
            <a:spLocks noGrp="1"/>
          </p:cNvSpPr>
          <p:nvPr/>
        </p:nvSpPr>
        <p:spPr>
          <a:xfrm>
            <a:off x="10666" y="-68277"/>
            <a:ext cx="44285777" cy="3817620"/>
          </a:xfrm>
          <a:prstGeom prst="rect">
            <a:avLst/>
          </a:prstGeom>
          <a:solidFill>
            <a:srgbClr val="2B6777"/>
          </a:solidFill>
          <a:ln w="0">
            <a:solidFill>
              <a:srgbClr val="16355B"/>
            </a:solidFill>
            <a:prstDash val="solid"/>
          </a:ln>
        </p:spPr>
        <p:txBody>
          <a:bodyPr/>
          <a:lstStyle/>
          <a:p>
            <a:endParaRPr lang="en-US" dirty="0"/>
          </a:p>
        </p:txBody>
      </p:sp>
      <p:sp>
        <p:nvSpPr>
          <p:cNvPr id="4" name="poster-title">
            <a:extLst>
              <a:ext uri="{FF2B5EF4-FFF2-40B4-BE49-F238E27FC236}">
                <a16:creationId xmlns:a16="http://schemas.microsoft.com/office/drawing/2014/main" id="{C40DB778-E753-4F5F-B990-8989E6D2554D}"/>
              </a:ext>
            </a:extLst>
          </p:cNvPr>
          <p:cNvSpPr>
            <a:spLocks noGrp="1"/>
          </p:cNvSpPr>
          <p:nvPr/>
        </p:nvSpPr>
        <p:spPr>
          <a:xfrm>
            <a:off x="1600199" y="365760"/>
            <a:ext cx="41501291" cy="2286000"/>
          </a:xfrm>
          <a:prstGeom prst="rect">
            <a:avLst/>
          </a:prstGeom>
        </p:spPr>
        <p:txBody>
          <a:bodyPr lIns="0" tIns="0" rIns="0" bIns="0"/>
          <a:lstStyle/>
          <a:p>
            <a:pPr>
              <a:defRPr sz="9000" b="1">
                <a:solidFill>
                  <a:srgbClr val="FFFFFF"/>
                </a:solidFill>
              </a:defRPr>
            </a:pPr>
            <a:r>
              <a:rPr sz="9000" b="1" dirty="0">
                <a:solidFill>
                  <a:srgbClr val="FFFFFF"/>
                </a:solidFill>
              </a:rPr>
              <a:t>Predicting Diabetes from Health Behaviors with Linear, Radial, and Polynomial SVMs</a:t>
            </a:r>
          </a:p>
        </p:txBody>
      </p:sp>
      <p:sp>
        <p:nvSpPr>
          <p:cNvPr id="5" name="poster-subtitle">
            <a:extLst>
              <a:ext uri="{FF2B5EF4-FFF2-40B4-BE49-F238E27FC236}">
                <a16:creationId xmlns:a16="http://schemas.microsoft.com/office/drawing/2014/main" id="{AA5B60EC-AFDB-4720-8231-619CBB25726D}"/>
              </a:ext>
            </a:extLst>
          </p:cNvPr>
          <p:cNvSpPr>
            <a:spLocks noGrp="1"/>
          </p:cNvSpPr>
          <p:nvPr/>
        </p:nvSpPr>
        <p:spPr>
          <a:xfrm>
            <a:off x="1600198" y="2057400"/>
            <a:ext cx="25923241" cy="411480"/>
          </a:xfrm>
          <a:prstGeom prst="rect">
            <a:avLst/>
          </a:prstGeom>
        </p:spPr>
        <p:txBody>
          <a:bodyPr lIns="0" tIns="0" rIns="0" bIns="0"/>
          <a:lstStyle/>
          <a:p>
            <a:pPr>
              <a:defRPr sz="3600">
                <a:solidFill>
                  <a:srgbClr val="E7E1D6"/>
                </a:solidFill>
              </a:defRPr>
            </a:pPr>
            <a:r>
              <a:rPr sz="3600" dirty="0">
                <a:solidFill>
                  <a:srgbClr val="E7E1D6"/>
                </a:solidFill>
              </a:rPr>
              <a:t>DATA 5322 Statistical Machine Learning II  |  NHIS 2022 via IPUMS Health Surveys  |  Target: DIABETICEV  |  Badamgarav Battushig</a:t>
            </a:r>
          </a:p>
        </p:txBody>
      </p:sp>
      <p:sp>
        <p:nvSpPr>
          <p:cNvPr id="6" name="Rectangle 5">
            <a:extLst>
              <a:ext uri="{FF2B5EF4-FFF2-40B4-BE49-F238E27FC236}">
                <a16:creationId xmlns:a16="http://schemas.microsoft.com/office/drawing/2014/main" id="{64FEC7FF-9603-4DF0-9C43-E424124A704F}"/>
              </a:ext>
            </a:extLst>
          </p:cNvPr>
          <p:cNvSpPr>
            <a:spLocks noGrp="1"/>
          </p:cNvSpPr>
          <p:nvPr/>
        </p:nvSpPr>
        <p:spPr>
          <a:xfrm>
            <a:off x="1600198" y="5006340"/>
            <a:ext cx="12344400" cy="731520"/>
          </a:xfrm>
          <a:prstGeom prst="rect">
            <a:avLst/>
          </a:prstGeom>
        </p:spPr>
        <p:txBody>
          <a:bodyPr lIns="0" tIns="0" rIns="0" bIns="0"/>
          <a:lstStyle/>
          <a:p>
            <a:pPr>
              <a:defRPr sz="5580" b="1">
                <a:solidFill>
                  <a:srgbClr val="16355B"/>
                </a:solidFill>
              </a:defRPr>
            </a:pPr>
            <a:r>
              <a:rPr sz="5580" b="1" dirty="0">
                <a:solidFill>
                  <a:srgbClr val="16355B"/>
                </a:solidFill>
              </a:rPr>
              <a:t>Introduction</a:t>
            </a:r>
          </a:p>
        </p:txBody>
      </p:sp>
      <p:sp>
        <p:nvSpPr>
          <p:cNvPr id="8" name="Rectangle 7">
            <a:extLst>
              <a:ext uri="{FF2B5EF4-FFF2-40B4-BE49-F238E27FC236}">
                <a16:creationId xmlns:a16="http://schemas.microsoft.com/office/drawing/2014/main" id="{5B452DE2-262B-47E1-99F6-860DE0624741}"/>
              </a:ext>
            </a:extLst>
          </p:cNvPr>
          <p:cNvSpPr>
            <a:spLocks noGrp="1"/>
          </p:cNvSpPr>
          <p:nvPr/>
        </p:nvSpPr>
        <p:spPr>
          <a:xfrm>
            <a:off x="1508760" y="5984124"/>
            <a:ext cx="11384280" cy="1828800"/>
          </a:xfrm>
          <a:prstGeom prst="rect">
            <a:avLst/>
          </a:prstGeom>
        </p:spPr>
        <p:txBody>
          <a:bodyPr lIns="0" tIns="0" rIns="0" bIns="0"/>
          <a:lstStyle/>
          <a:p>
            <a:pPr>
              <a:defRPr sz="3600">
                <a:solidFill>
                  <a:srgbClr val="16355B"/>
                </a:solidFill>
              </a:defRPr>
            </a:pPr>
            <a:r>
              <a:rPr sz="3780" dirty="0">
                <a:solidFill>
                  <a:srgbClr val="16355B"/>
                </a:solidFill>
              </a:rPr>
              <a:t>This project studies whether demographic characteristics and daily health behaviors can be used to predict diabetes in the 2022 National Health Interview Survey, accessed through IPUMS Health Surveys.</a:t>
            </a:r>
            <a:endParaRPr lang="en-US" sz="3780" dirty="0">
              <a:solidFill>
                <a:srgbClr val="16355B"/>
              </a:solidFill>
            </a:endParaRPr>
          </a:p>
          <a:p>
            <a:pPr>
              <a:defRPr sz="3600">
                <a:solidFill>
                  <a:srgbClr val="16355B"/>
                </a:solidFill>
              </a:defRPr>
            </a:pPr>
            <a:r>
              <a:rPr lang="en-US" sz="3780" dirty="0">
                <a:solidFill>
                  <a:srgbClr val="16355B"/>
                </a:solidFill>
              </a:rPr>
              <a:t>The target variable is DIABETICEV, recoded to a binary diabetes outcome for adults only. Predictors include age, sex, education, work hours, BMI, cigarettes per day, moderate activity, vigorous activity, fruit intake, vegetable intake, and sleep hours. Three support vector machine models are compared: linear, radial (RBF), and polynomial kernels.</a:t>
            </a:r>
          </a:p>
          <a:p>
            <a:pPr>
              <a:defRPr sz="3600">
                <a:solidFill>
                  <a:srgbClr val="16355B"/>
                </a:solidFill>
              </a:defRPr>
            </a:pPr>
            <a:endParaRPr sz="3780" dirty="0">
              <a:solidFill>
                <a:srgbClr val="16355B"/>
              </a:solidFill>
            </a:endParaRPr>
          </a:p>
        </p:txBody>
      </p:sp>
      <p:sp>
        <p:nvSpPr>
          <p:cNvPr id="10" name="Rectangle 9">
            <a:extLst>
              <a:ext uri="{FF2B5EF4-FFF2-40B4-BE49-F238E27FC236}">
                <a16:creationId xmlns:a16="http://schemas.microsoft.com/office/drawing/2014/main" id="{384DC080-3108-4D2E-A4FA-D36035F98BA3}"/>
              </a:ext>
            </a:extLst>
          </p:cNvPr>
          <p:cNvSpPr>
            <a:spLocks noGrp="1"/>
          </p:cNvSpPr>
          <p:nvPr/>
        </p:nvSpPr>
        <p:spPr>
          <a:xfrm>
            <a:off x="1558556" y="13704768"/>
            <a:ext cx="12344400" cy="731520"/>
          </a:xfrm>
          <a:prstGeom prst="rect">
            <a:avLst/>
          </a:prstGeom>
        </p:spPr>
        <p:txBody>
          <a:bodyPr lIns="0" tIns="0" rIns="0" bIns="0"/>
          <a:lstStyle/>
          <a:p>
            <a:pPr>
              <a:defRPr sz="5580" b="1">
                <a:solidFill>
                  <a:srgbClr val="16355B"/>
                </a:solidFill>
              </a:defRPr>
            </a:pPr>
            <a:r>
              <a:rPr sz="5580" b="1" dirty="0">
                <a:solidFill>
                  <a:srgbClr val="16355B"/>
                </a:solidFill>
              </a:rPr>
              <a:t>Theoretical Background</a:t>
            </a:r>
          </a:p>
        </p:txBody>
      </p:sp>
      <p:sp>
        <p:nvSpPr>
          <p:cNvPr id="12" name="Rectangle 11">
            <a:extLst>
              <a:ext uri="{FF2B5EF4-FFF2-40B4-BE49-F238E27FC236}">
                <a16:creationId xmlns:a16="http://schemas.microsoft.com/office/drawing/2014/main" id="{29166971-9783-4903-9ABB-0D5DE1733948}"/>
              </a:ext>
            </a:extLst>
          </p:cNvPr>
          <p:cNvSpPr>
            <a:spLocks noGrp="1"/>
          </p:cNvSpPr>
          <p:nvPr/>
        </p:nvSpPr>
        <p:spPr>
          <a:xfrm>
            <a:off x="1600200" y="14735404"/>
            <a:ext cx="11658598" cy="1463040"/>
          </a:xfrm>
          <a:prstGeom prst="rect">
            <a:avLst/>
          </a:prstGeom>
        </p:spPr>
        <p:txBody>
          <a:bodyPr lIns="0" tIns="0" rIns="0" bIns="0"/>
          <a:lstStyle/>
          <a:p>
            <a:pPr>
              <a:defRPr sz="3780">
                <a:solidFill>
                  <a:srgbClr val="16355B"/>
                </a:solidFill>
              </a:defRPr>
            </a:pPr>
            <a:r>
              <a:rPr sz="3780" dirty="0">
                <a:solidFill>
                  <a:srgbClr val="16355B"/>
                </a:solidFill>
              </a:rPr>
              <a:t>A support vector machine finds a separating hyperplane that maximizes the margin between classes while allowing some misclassification through slack variables.</a:t>
            </a:r>
            <a:endParaRPr lang="en-US" sz="3780" dirty="0">
              <a:solidFill>
                <a:srgbClr val="16355B"/>
              </a:solidFill>
            </a:endParaRPr>
          </a:p>
          <a:p>
            <a:pPr>
              <a:defRPr sz="3780">
                <a:solidFill>
                  <a:srgbClr val="16355B"/>
                </a:solidFill>
              </a:defRPr>
            </a:pPr>
            <a:r>
              <a:rPr lang="en-US" sz="3780" dirty="0">
                <a:solidFill>
                  <a:srgbClr val="16355B"/>
                </a:solidFill>
              </a:rPr>
              <a:t>Linear SVM tunes cost. Radial SVM tunes cost and gamma. Polynomial SVM tunes cost, degree, and coef0. Performance is evaluated with accuracy, sensitivity, specificity, precision, F1, balanced accuracy, and AUC.</a:t>
            </a:r>
          </a:p>
          <a:p>
            <a:pPr>
              <a:defRPr sz="3780">
                <a:solidFill>
                  <a:srgbClr val="16355B"/>
                </a:solidFill>
              </a:defRPr>
            </a:pPr>
            <a:endParaRPr sz="3780" dirty="0">
              <a:solidFill>
                <a:srgbClr val="16355B"/>
              </a:solidFill>
            </a:endParaRPr>
          </a:p>
        </p:txBody>
      </p:sp>
      <p:sp>
        <p:nvSpPr>
          <p:cNvPr id="15" name="Rectangle 14">
            <a:extLst>
              <a:ext uri="{FF2B5EF4-FFF2-40B4-BE49-F238E27FC236}">
                <a16:creationId xmlns:a16="http://schemas.microsoft.com/office/drawing/2014/main" id="{0D47D05F-9CAE-418C-8BA8-0A1C257D9738}"/>
              </a:ext>
            </a:extLst>
          </p:cNvPr>
          <p:cNvSpPr>
            <a:spLocks noGrp="1"/>
          </p:cNvSpPr>
          <p:nvPr/>
        </p:nvSpPr>
        <p:spPr>
          <a:xfrm>
            <a:off x="1600198" y="19882103"/>
            <a:ext cx="12344400" cy="731520"/>
          </a:xfrm>
          <a:prstGeom prst="rect">
            <a:avLst/>
          </a:prstGeom>
        </p:spPr>
        <p:txBody>
          <a:bodyPr lIns="0" tIns="0" rIns="0" bIns="0"/>
          <a:lstStyle/>
          <a:p>
            <a:pPr>
              <a:defRPr sz="5580" b="1">
                <a:solidFill>
                  <a:srgbClr val="16355B"/>
                </a:solidFill>
              </a:defRPr>
            </a:pPr>
            <a:r>
              <a:rPr sz="5580" b="1" dirty="0">
                <a:solidFill>
                  <a:srgbClr val="16355B"/>
                </a:solidFill>
              </a:rPr>
              <a:t>Methodology</a:t>
            </a:r>
          </a:p>
        </p:txBody>
      </p:sp>
      <p:sp>
        <p:nvSpPr>
          <p:cNvPr id="17" name="Rectangle 16">
            <a:extLst>
              <a:ext uri="{FF2B5EF4-FFF2-40B4-BE49-F238E27FC236}">
                <a16:creationId xmlns:a16="http://schemas.microsoft.com/office/drawing/2014/main" id="{EE0F5DA2-766D-4FD3-A5F9-A55A7304FF9B}"/>
              </a:ext>
            </a:extLst>
          </p:cNvPr>
          <p:cNvSpPr>
            <a:spLocks noGrp="1"/>
          </p:cNvSpPr>
          <p:nvPr/>
        </p:nvSpPr>
        <p:spPr>
          <a:xfrm>
            <a:off x="1600198" y="20953324"/>
            <a:ext cx="11658600" cy="2809009"/>
          </a:xfrm>
          <a:prstGeom prst="rect">
            <a:avLst/>
          </a:prstGeom>
        </p:spPr>
        <p:txBody>
          <a:bodyPr lIns="0" tIns="0" rIns="0" bIns="0"/>
          <a:lstStyle/>
          <a:p>
            <a:pPr>
              <a:defRPr sz="3960">
                <a:solidFill>
                  <a:srgbClr val="16355B"/>
                </a:solidFill>
              </a:defRPr>
            </a:pPr>
            <a:r>
              <a:rPr sz="3780" dirty="0">
                <a:solidFill>
                  <a:srgbClr val="16355B"/>
                </a:solidFill>
              </a:rPr>
              <a:t>1. Start with 35,115 NHIS responses and restrict to adults using ASTATFLG = 1.</a:t>
            </a:r>
            <a:endParaRPr lang="en-US" sz="3780" dirty="0">
              <a:solidFill>
                <a:srgbClr val="16355B"/>
              </a:solidFill>
            </a:endParaRPr>
          </a:p>
          <a:p>
            <a:pPr>
              <a:defRPr sz="3960">
                <a:solidFill>
                  <a:srgbClr val="16355B"/>
                </a:solidFill>
              </a:defRPr>
            </a:pPr>
            <a:r>
              <a:rPr lang="en-US" sz="3780" dirty="0">
                <a:solidFill>
                  <a:srgbClr val="16355B"/>
                </a:solidFill>
              </a:rPr>
              <a:t>2. Recode special survey values such as 7, 9, 96, 98, 99, 996, 997, 998, and 999 to missing when they represent non-substantive responses.</a:t>
            </a:r>
          </a:p>
          <a:p>
            <a:pPr>
              <a:defRPr sz="3960">
                <a:solidFill>
                  <a:srgbClr val="16355B"/>
                </a:solidFill>
              </a:defRPr>
            </a:pPr>
            <a:r>
              <a:rPr lang="en-US" sz="3780" dirty="0">
                <a:solidFill>
                  <a:srgbClr val="16355B"/>
                </a:solidFill>
              </a:rPr>
              <a:t>3. Convert coded categories such as Sex and Education to factors so the SVM does not treat category labels as measured distances.</a:t>
            </a:r>
          </a:p>
          <a:p>
            <a:pPr>
              <a:defRPr sz="3960">
                <a:solidFill>
                  <a:srgbClr val="16355B"/>
                </a:solidFill>
              </a:defRPr>
            </a:pPr>
            <a:r>
              <a:rPr lang="en-US" sz="3780" dirty="0">
                <a:solidFill>
                  <a:srgbClr val="16355B"/>
                </a:solidFill>
              </a:rPr>
              <a:t>4. Use a 70/30 train-test split with set.seed(123). Tune on a smaller stratified tuning sample with 5-fold cross-validation, then refit the chosen model on the full training data.</a:t>
            </a:r>
          </a:p>
          <a:p>
            <a:pPr>
              <a:defRPr sz="3960">
                <a:solidFill>
                  <a:srgbClr val="16355B"/>
                </a:solidFill>
              </a:defRPr>
            </a:pPr>
            <a:endParaRPr lang="en-US" sz="3780" b="1" dirty="0">
              <a:solidFill>
                <a:srgbClr val="16355B"/>
              </a:solidFill>
            </a:endParaRPr>
          </a:p>
          <a:p>
            <a:pPr>
              <a:defRPr sz="3960">
                <a:solidFill>
                  <a:srgbClr val="16355B"/>
                </a:solidFill>
              </a:defRPr>
            </a:pPr>
            <a:endParaRPr lang="en-US" sz="3780" dirty="0">
              <a:solidFill>
                <a:srgbClr val="16355B"/>
              </a:solidFill>
            </a:endParaRPr>
          </a:p>
          <a:p>
            <a:pPr>
              <a:defRPr sz="3960">
                <a:solidFill>
                  <a:srgbClr val="16355B"/>
                </a:solidFill>
              </a:defRPr>
            </a:pPr>
            <a:endParaRPr lang="en-US" sz="3780" dirty="0">
              <a:solidFill>
                <a:srgbClr val="16355B"/>
              </a:solidFill>
            </a:endParaRPr>
          </a:p>
          <a:p>
            <a:pPr>
              <a:defRPr sz="3960">
                <a:solidFill>
                  <a:srgbClr val="16355B"/>
                </a:solidFill>
              </a:defRPr>
            </a:pPr>
            <a:endParaRPr lang="en-US" sz="3780" dirty="0">
              <a:solidFill>
                <a:srgbClr val="16355B"/>
              </a:solidFill>
            </a:endParaRPr>
          </a:p>
          <a:p>
            <a:pPr>
              <a:defRPr sz="3960">
                <a:solidFill>
                  <a:srgbClr val="16355B"/>
                </a:solidFill>
              </a:defRPr>
            </a:pPr>
            <a:endParaRPr sz="3780" dirty="0">
              <a:solidFill>
                <a:srgbClr val="16355B"/>
              </a:solidFill>
            </a:endParaRPr>
          </a:p>
        </p:txBody>
      </p:sp>
      <p:sp>
        <p:nvSpPr>
          <p:cNvPr id="21" name="Rectangle 20">
            <a:extLst>
              <a:ext uri="{FF2B5EF4-FFF2-40B4-BE49-F238E27FC236}">
                <a16:creationId xmlns:a16="http://schemas.microsoft.com/office/drawing/2014/main" id="{3975D57B-B11A-4DF2-A175-B88BB393C51E}"/>
              </a:ext>
            </a:extLst>
          </p:cNvPr>
          <p:cNvSpPr>
            <a:spLocks noGrp="1"/>
          </p:cNvSpPr>
          <p:nvPr/>
        </p:nvSpPr>
        <p:spPr>
          <a:xfrm>
            <a:off x="1600198" y="28047055"/>
            <a:ext cx="12344400" cy="731520"/>
          </a:xfrm>
          <a:prstGeom prst="rect">
            <a:avLst/>
          </a:prstGeom>
        </p:spPr>
        <p:txBody>
          <a:bodyPr lIns="0" tIns="0" rIns="0" bIns="0"/>
          <a:lstStyle/>
          <a:p>
            <a:pPr>
              <a:defRPr sz="5580" b="1">
                <a:solidFill>
                  <a:srgbClr val="16355B"/>
                </a:solidFill>
              </a:defRPr>
            </a:pPr>
            <a:r>
              <a:rPr sz="5580" b="1" dirty="0">
                <a:solidFill>
                  <a:srgbClr val="16355B"/>
                </a:solidFill>
              </a:rPr>
              <a:t>Results: Sample Structure</a:t>
            </a:r>
          </a:p>
        </p:txBody>
      </p:sp>
      <p:sp>
        <p:nvSpPr>
          <p:cNvPr id="23" name="Rectangle 22">
            <a:extLst>
              <a:ext uri="{FF2B5EF4-FFF2-40B4-BE49-F238E27FC236}">
                <a16:creationId xmlns:a16="http://schemas.microsoft.com/office/drawing/2014/main" id="{66CD7EF9-CA60-4225-BD2D-6976212B7588}"/>
              </a:ext>
            </a:extLst>
          </p:cNvPr>
          <p:cNvSpPr>
            <a:spLocks noGrp="1"/>
          </p:cNvSpPr>
          <p:nvPr/>
        </p:nvSpPr>
        <p:spPr>
          <a:xfrm>
            <a:off x="1600198" y="29088055"/>
            <a:ext cx="12344400" cy="457200"/>
          </a:xfrm>
          <a:prstGeom prst="rect">
            <a:avLst/>
          </a:prstGeom>
        </p:spPr>
        <p:txBody>
          <a:bodyPr lIns="0" tIns="0" rIns="0" bIns="0"/>
          <a:lstStyle/>
          <a:p>
            <a:pPr>
              <a:defRPr sz="3600" b="1">
                <a:solidFill>
                  <a:srgbClr val="2E6F7E"/>
                </a:solidFill>
              </a:defRPr>
            </a:pPr>
            <a:r>
              <a:rPr sz="3600" b="1" dirty="0">
                <a:solidFill>
                  <a:srgbClr val="2E6F7E"/>
                </a:solidFill>
              </a:rPr>
              <a:t>Complete-case sample: 23,872 adults</a:t>
            </a:r>
          </a:p>
        </p:txBody>
      </p:sp>
      <p:sp>
        <p:nvSpPr>
          <p:cNvPr id="24" name="Rectangle 23">
            <a:extLst>
              <a:ext uri="{FF2B5EF4-FFF2-40B4-BE49-F238E27FC236}">
                <a16:creationId xmlns:a16="http://schemas.microsoft.com/office/drawing/2014/main" id="{0F2E4020-A3AC-42CC-9CAE-49F3DCC66D60}"/>
              </a:ext>
            </a:extLst>
          </p:cNvPr>
          <p:cNvSpPr>
            <a:spLocks noGrp="1"/>
          </p:cNvSpPr>
          <p:nvPr/>
        </p:nvSpPr>
        <p:spPr>
          <a:xfrm>
            <a:off x="1514094" y="29843698"/>
            <a:ext cx="11521440" cy="2685149"/>
          </a:xfrm>
          <a:prstGeom prst="rect">
            <a:avLst/>
          </a:prstGeom>
        </p:spPr>
        <p:txBody>
          <a:bodyPr lIns="0" tIns="0" rIns="0" bIns="0"/>
          <a:lstStyle/>
          <a:p>
            <a:pPr>
              <a:defRPr sz="3600">
                <a:solidFill>
                  <a:srgbClr val="16355B"/>
                </a:solidFill>
              </a:defRPr>
            </a:pPr>
            <a:r>
              <a:rPr lang="en-US" sz="3600" dirty="0"/>
              <a:t>Class counts: 21,407 No and 2,465 Yes (10.3% prevalence), indicating a strongly imbalanced dataset. As a result, accuracy is misleading, so balanced accuracy, sensitivity, and AUC are emphasized.</a:t>
            </a:r>
            <a:endParaRPr sz="3780" dirty="0">
              <a:solidFill>
                <a:srgbClr val="16355B"/>
              </a:solidFill>
            </a:endParaRPr>
          </a:p>
        </p:txBody>
      </p:sp>
      <p:sp>
        <p:nvSpPr>
          <p:cNvPr id="26" name="Rectangle 25">
            <a:extLst>
              <a:ext uri="{FF2B5EF4-FFF2-40B4-BE49-F238E27FC236}">
                <a16:creationId xmlns:a16="http://schemas.microsoft.com/office/drawing/2014/main" id="{63043642-9CC2-4757-B79F-B44B0BF6A0FF}"/>
              </a:ext>
            </a:extLst>
          </p:cNvPr>
          <p:cNvSpPr>
            <a:spLocks noGrp="1"/>
          </p:cNvSpPr>
          <p:nvPr/>
        </p:nvSpPr>
        <p:spPr>
          <a:xfrm>
            <a:off x="14472701" y="13756028"/>
            <a:ext cx="14310360" cy="731520"/>
          </a:xfrm>
          <a:prstGeom prst="rect">
            <a:avLst/>
          </a:prstGeom>
        </p:spPr>
        <p:txBody>
          <a:bodyPr lIns="0" tIns="0" rIns="0" bIns="0"/>
          <a:lstStyle/>
          <a:p>
            <a:pPr>
              <a:defRPr sz="5580" b="1">
                <a:solidFill>
                  <a:srgbClr val="16355B"/>
                </a:solidFill>
              </a:defRPr>
            </a:pPr>
            <a:r>
              <a:rPr sz="5580" b="1" dirty="0">
                <a:solidFill>
                  <a:srgbClr val="16355B"/>
                </a:solidFill>
              </a:rPr>
              <a:t>Results</a:t>
            </a:r>
          </a:p>
        </p:txBody>
      </p:sp>
      <p:sp>
        <p:nvSpPr>
          <p:cNvPr id="30" name="Rectangle 29">
            <a:extLst>
              <a:ext uri="{FF2B5EF4-FFF2-40B4-BE49-F238E27FC236}">
                <a16:creationId xmlns:a16="http://schemas.microsoft.com/office/drawing/2014/main" id="{318CE0C2-FBD2-4BC1-A881-1134307A4F89}"/>
              </a:ext>
            </a:extLst>
          </p:cNvPr>
          <p:cNvSpPr>
            <a:spLocks noGrp="1"/>
          </p:cNvSpPr>
          <p:nvPr/>
        </p:nvSpPr>
        <p:spPr>
          <a:xfrm>
            <a:off x="14483059" y="14694498"/>
            <a:ext cx="14310360" cy="457200"/>
          </a:xfrm>
          <a:prstGeom prst="rect">
            <a:avLst/>
          </a:prstGeom>
        </p:spPr>
        <p:txBody>
          <a:bodyPr lIns="0" tIns="0" rIns="0" bIns="0"/>
          <a:lstStyle/>
          <a:p>
            <a:pPr>
              <a:defRPr sz="3600" b="1">
                <a:solidFill>
                  <a:srgbClr val="2E6F7E"/>
                </a:solidFill>
              </a:defRPr>
            </a:pPr>
            <a:r>
              <a:rPr sz="3780" b="1" dirty="0">
                <a:solidFill>
                  <a:srgbClr val="2E6F7E"/>
                </a:solidFill>
              </a:rPr>
              <a:t>Descriptive differences by diabetes status</a:t>
            </a:r>
          </a:p>
        </p:txBody>
      </p:sp>
      <p:sp>
        <p:nvSpPr>
          <p:cNvPr id="31" name="Rectangle 30">
            <a:extLst>
              <a:ext uri="{FF2B5EF4-FFF2-40B4-BE49-F238E27FC236}">
                <a16:creationId xmlns:a16="http://schemas.microsoft.com/office/drawing/2014/main" id="{43466356-BD8D-499E-8E9A-DD2286C02952}"/>
              </a:ext>
            </a:extLst>
          </p:cNvPr>
          <p:cNvSpPr>
            <a:spLocks noGrp="1"/>
          </p:cNvSpPr>
          <p:nvPr/>
        </p:nvSpPr>
        <p:spPr>
          <a:xfrm>
            <a:off x="14472701" y="15311290"/>
            <a:ext cx="12755880" cy="889876"/>
          </a:xfrm>
          <a:prstGeom prst="rect">
            <a:avLst/>
          </a:prstGeom>
        </p:spPr>
        <p:txBody>
          <a:bodyPr lIns="0" tIns="0" rIns="0" bIns="0"/>
          <a:lstStyle/>
          <a:p>
            <a:r>
              <a:rPr lang="en-US" sz="3780" dirty="0">
                <a:solidFill>
                  <a:srgbClr val="314D6E"/>
                </a:solidFill>
              </a:rPr>
              <a:t>Adults with diabetes have higher average age and BMI, and lower average work hours and physical activity compared to non-diabetic individuals.</a:t>
            </a:r>
          </a:p>
        </p:txBody>
      </p:sp>
      <p:sp>
        <p:nvSpPr>
          <p:cNvPr id="32" name="Rectangle 31">
            <a:extLst>
              <a:ext uri="{FF2B5EF4-FFF2-40B4-BE49-F238E27FC236}">
                <a16:creationId xmlns:a16="http://schemas.microsoft.com/office/drawing/2014/main" id="{66465904-EAA7-44CE-B12D-913EA2E129FC}"/>
              </a:ext>
            </a:extLst>
          </p:cNvPr>
          <p:cNvSpPr>
            <a:spLocks noGrp="1"/>
          </p:cNvSpPr>
          <p:nvPr/>
        </p:nvSpPr>
        <p:spPr>
          <a:xfrm>
            <a:off x="14448317" y="17043852"/>
            <a:ext cx="14310360" cy="457200"/>
          </a:xfrm>
          <a:prstGeom prst="rect">
            <a:avLst/>
          </a:prstGeom>
        </p:spPr>
        <p:txBody>
          <a:bodyPr lIns="0" tIns="0" rIns="0" bIns="0"/>
          <a:lstStyle/>
          <a:p>
            <a:pPr>
              <a:defRPr sz="3600" b="1">
                <a:solidFill>
                  <a:srgbClr val="2E6F7E"/>
                </a:solidFill>
              </a:defRPr>
            </a:pPr>
            <a:r>
              <a:rPr sz="3780" b="1" dirty="0">
                <a:solidFill>
                  <a:srgbClr val="2E6F7E"/>
                </a:solidFill>
              </a:rPr>
              <a:t>Evaluation metrics used</a:t>
            </a:r>
          </a:p>
        </p:txBody>
      </p:sp>
      <p:sp>
        <p:nvSpPr>
          <p:cNvPr id="33" name="Rectangle 32">
            <a:extLst>
              <a:ext uri="{FF2B5EF4-FFF2-40B4-BE49-F238E27FC236}">
                <a16:creationId xmlns:a16="http://schemas.microsoft.com/office/drawing/2014/main" id="{FB779B62-64E4-4C67-8F99-70A5E540C43D}"/>
              </a:ext>
            </a:extLst>
          </p:cNvPr>
          <p:cNvSpPr>
            <a:spLocks noGrp="1"/>
          </p:cNvSpPr>
          <p:nvPr/>
        </p:nvSpPr>
        <p:spPr>
          <a:xfrm>
            <a:off x="15621001" y="17624927"/>
            <a:ext cx="10248900" cy="718811"/>
          </a:xfrm>
          <a:prstGeom prst="rect">
            <a:avLst/>
          </a:prstGeom>
        </p:spPr>
        <p:txBody>
          <a:bodyPr lIns="0" tIns="0" rIns="0" bIns="0"/>
          <a:lstStyle/>
          <a:p>
            <a:pPr>
              <a:defRPr sz="3600">
                <a:solidFill>
                  <a:srgbClr val="16355B"/>
                </a:solidFill>
              </a:defRPr>
            </a:pPr>
            <a:r>
              <a:rPr sz="3780" dirty="0">
                <a:solidFill>
                  <a:srgbClr val="16355B"/>
                </a:solidFill>
              </a:rPr>
              <a:t>Accuracy, sensitivity, specificity, precision, F1, balanced accuracy, and AUC are reported for all three kernels on the same held-out test set.</a:t>
            </a:r>
          </a:p>
        </p:txBody>
      </p:sp>
      <p:sp>
        <p:nvSpPr>
          <p:cNvPr id="34" name="Rectangle 33">
            <a:extLst>
              <a:ext uri="{FF2B5EF4-FFF2-40B4-BE49-F238E27FC236}">
                <a16:creationId xmlns:a16="http://schemas.microsoft.com/office/drawing/2014/main" id="{BAAB3C2B-672D-4C13-9F73-B2C765C66548}"/>
              </a:ext>
            </a:extLst>
          </p:cNvPr>
          <p:cNvSpPr>
            <a:spLocks noGrp="1"/>
          </p:cNvSpPr>
          <p:nvPr/>
        </p:nvSpPr>
        <p:spPr>
          <a:xfrm>
            <a:off x="14998374" y="19974281"/>
            <a:ext cx="14310360" cy="731520"/>
          </a:xfrm>
          <a:prstGeom prst="rect">
            <a:avLst/>
          </a:prstGeom>
        </p:spPr>
        <p:txBody>
          <a:bodyPr lIns="0" tIns="0" rIns="0" bIns="0"/>
          <a:lstStyle/>
          <a:p>
            <a:pPr>
              <a:defRPr sz="5580" b="1">
                <a:solidFill>
                  <a:srgbClr val="16355B"/>
                </a:solidFill>
              </a:defRPr>
            </a:pPr>
            <a:r>
              <a:rPr sz="5580" b="1" dirty="0">
                <a:solidFill>
                  <a:srgbClr val="16355B"/>
                </a:solidFill>
              </a:rPr>
              <a:t>Kernel Comparison Table</a:t>
            </a:r>
          </a:p>
        </p:txBody>
      </p:sp>
      <p:sp>
        <p:nvSpPr>
          <p:cNvPr id="36" name="Rectangle 35">
            <a:extLst>
              <a:ext uri="{FF2B5EF4-FFF2-40B4-BE49-F238E27FC236}">
                <a16:creationId xmlns:a16="http://schemas.microsoft.com/office/drawing/2014/main" id="{B09E79FB-2437-4B27-9010-03666E74C157}"/>
              </a:ext>
            </a:extLst>
          </p:cNvPr>
          <p:cNvSpPr>
            <a:spLocks noGrp="1"/>
          </p:cNvSpPr>
          <p:nvPr/>
        </p:nvSpPr>
        <p:spPr>
          <a:xfrm>
            <a:off x="14561818" y="20939611"/>
            <a:ext cx="13107785" cy="2011680"/>
          </a:xfrm>
          <a:prstGeom prst="rect">
            <a:avLst/>
          </a:prstGeom>
        </p:spPr>
        <p:txBody>
          <a:bodyPr lIns="0" tIns="0" rIns="0" bIns="0"/>
          <a:lstStyle/>
          <a:p>
            <a:pPr>
              <a:defRPr sz="3960">
                <a:solidFill>
                  <a:srgbClr val="16355B"/>
                </a:solidFill>
              </a:defRPr>
            </a:pPr>
            <a:r>
              <a:rPr sz="3780" dirty="0">
                <a:solidFill>
                  <a:srgbClr val="16355B"/>
                </a:solidFill>
              </a:rPr>
              <a:t>Final held-out test-set metrics for the three SVM kernels are shown below. The polynomial kernel performed best by balanced accuracy and AUC, although all three models had very weak sensitivity.</a:t>
            </a:r>
          </a:p>
        </p:txBody>
      </p:sp>
      <p:sp>
        <p:nvSpPr>
          <p:cNvPr id="39" name="Rectangle 38">
            <a:extLst>
              <a:ext uri="{FF2B5EF4-FFF2-40B4-BE49-F238E27FC236}">
                <a16:creationId xmlns:a16="http://schemas.microsoft.com/office/drawing/2014/main" id="{8607519D-639C-4014-A374-596BEBE21766}"/>
              </a:ext>
            </a:extLst>
          </p:cNvPr>
          <p:cNvSpPr>
            <a:spLocks noGrp="1"/>
          </p:cNvSpPr>
          <p:nvPr/>
        </p:nvSpPr>
        <p:spPr>
          <a:xfrm>
            <a:off x="15163799" y="31477302"/>
            <a:ext cx="11740551" cy="555536"/>
          </a:xfrm>
          <a:prstGeom prst="rect">
            <a:avLst/>
          </a:prstGeom>
        </p:spPr>
        <p:txBody>
          <a:bodyPr lIns="0" tIns="0" rIns="0" bIns="0"/>
          <a:lstStyle/>
          <a:p>
            <a:pPr>
              <a:defRPr sz="3600">
                <a:solidFill>
                  <a:srgbClr val="56616F"/>
                </a:solidFill>
              </a:defRPr>
            </a:pPr>
            <a:r>
              <a:rPr sz="3200" dirty="0">
                <a:solidFill>
                  <a:srgbClr val="314D6E"/>
                </a:solidFill>
              </a:rPr>
              <a:t>Best model: Polynomial kernel, but all three models missed most true diabetes cases.</a:t>
            </a:r>
          </a:p>
        </p:txBody>
      </p:sp>
      <p:sp>
        <p:nvSpPr>
          <p:cNvPr id="40" name="Rectangle 39">
            <a:extLst>
              <a:ext uri="{FF2B5EF4-FFF2-40B4-BE49-F238E27FC236}">
                <a16:creationId xmlns:a16="http://schemas.microsoft.com/office/drawing/2014/main" id="{8CEF718C-95DF-4064-9A47-D6786586EF63}"/>
              </a:ext>
            </a:extLst>
          </p:cNvPr>
          <p:cNvSpPr>
            <a:spLocks noGrp="1"/>
          </p:cNvSpPr>
          <p:nvPr/>
        </p:nvSpPr>
        <p:spPr>
          <a:xfrm>
            <a:off x="29260800" y="5034606"/>
            <a:ext cx="12344400" cy="731520"/>
          </a:xfrm>
          <a:prstGeom prst="rect">
            <a:avLst/>
          </a:prstGeom>
        </p:spPr>
        <p:txBody>
          <a:bodyPr lIns="0" tIns="0" rIns="0" bIns="0"/>
          <a:lstStyle/>
          <a:p>
            <a:pPr>
              <a:defRPr sz="5580" b="1">
                <a:solidFill>
                  <a:srgbClr val="16355B"/>
                </a:solidFill>
              </a:defRPr>
            </a:pPr>
            <a:r>
              <a:rPr sz="5580" b="1" dirty="0">
                <a:solidFill>
                  <a:srgbClr val="16355B"/>
                </a:solidFill>
              </a:rPr>
              <a:t>Example Decision Boundary</a:t>
            </a:r>
          </a:p>
        </p:txBody>
      </p:sp>
      <p:sp>
        <p:nvSpPr>
          <p:cNvPr id="43" name="Rectangle 42">
            <a:extLst>
              <a:ext uri="{FF2B5EF4-FFF2-40B4-BE49-F238E27FC236}">
                <a16:creationId xmlns:a16="http://schemas.microsoft.com/office/drawing/2014/main" id="{A36B2CDB-F8DE-414E-B727-598ECF150545}"/>
              </a:ext>
            </a:extLst>
          </p:cNvPr>
          <p:cNvSpPr>
            <a:spLocks noGrp="1"/>
          </p:cNvSpPr>
          <p:nvPr/>
        </p:nvSpPr>
        <p:spPr>
          <a:xfrm>
            <a:off x="29074601" y="15155558"/>
            <a:ext cx="13216400" cy="1387822"/>
          </a:xfrm>
          <a:prstGeom prst="rect">
            <a:avLst/>
          </a:prstGeom>
        </p:spPr>
        <p:txBody>
          <a:bodyPr lIns="0" tIns="0" rIns="0" bIns="0"/>
          <a:lstStyle/>
          <a:p>
            <a:pPr>
              <a:defRPr sz="3600">
                <a:solidFill>
                  <a:srgbClr val="16355B"/>
                </a:solidFill>
              </a:defRPr>
            </a:pPr>
            <a:r>
              <a:rPr lang="en-US" sz="3780" dirty="0"/>
              <a:t>This SVM plot uses Age and BMI, the two strongest individual predictors. The overlap between classes shows that these variables are informative but do not fully separate diabetes and non-diabetes cases.</a:t>
            </a:r>
          </a:p>
          <a:p>
            <a:pPr>
              <a:defRPr sz="3600">
                <a:solidFill>
                  <a:srgbClr val="16355B"/>
                </a:solidFill>
              </a:defRPr>
            </a:pPr>
            <a:endParaRPr lang="en-US" sz="3780" dirty="0"/>
          </a:p>
          <a:p>
            <a:pPr>
              <a:defRPr sz="3600">
                <a:solidFill>
                  <a:srgbClr val="16355B"/>
                </a:solidFill>
              </a:defRPr>
            </a:pPr>
            <a:endParaRPr sz="3780" dirty="0">
              <a:solidFill>
                <a:srgbClr val="16355B"/>
              </a:solidFill>
            </a:endParaRPr>
          </a:p>
        </p:txBody>
      </p:sp>
      <p:sp>
        <p:nvSpPr>
          <p:cNvPr id="44" name="Rectangle 43">
            <a:extLst>
              <a:ext uri="{FF2B5EF4-FFF2-40B4-BE49-F238E27FC236}">
                <a16:creationId xmlns:a16="http://schemas.microsoft.com/office/drawing/2014/main" id="{D311A754-7AE5-4378-BF19-341580CC792D}"/>
              </a:ext>
            </a:extLst>
          </p:cNvPr>
          <p:cNvSpPr>
            <a:spLocks noGrp="1"/>
          </p:cNvSpPr>
          <p:nvPr/>
        </p:nvSpPr>
        <p:spPr>
          <a:xfrm>
            <a:off x="29077919" y="18638231"/>
            <a:ext cx="12344400" cy="731520"/>
          </a:xfrm>
          <a:prstGeom prst="rect">
            <a:avLst/>
          </a:prstGeom>
        </p:spPr>
        <p:txBody>
          <a:bodyPr lIns="0" tIns="0" rIns="0" bIns="0"/>
          <a:lstStyle/>
          <a:p>
            <a:pPr>
              <a:defRPr sz="5580" b="1">
                <a:solidFill>
                  <a:srgbClr val="16355B"/>
                </a:solidFill>
              </a:defRPr>
            </a:pPr>
            <a:r>
              <a:rPr sz="5580" b="1" dirty="0">
                <a:solidFill>
                  <a:srgbClr val="16355B"/>
                </a:solidFill>
              </a:rPr>
              <a:t>Discussion</a:t>
            </a:r>
          </a:p>
        </p:txBody>
      </p:sp>
      <p:sp>
        <p:nvSpPr>
          <p:cNvPr id="46" name="Rectangle 45">
            <a:extLst>
              <a:ext uri="{FF2B5EF4-FFF2-40B4-BE49-F238E27FC236}">
                <a16:creationId xmlns:a16="http://schemas.microsoft.com/office/drawing/2014/main" id="{4B8CA6E9-BB17-4139-AD0C-12CAFB9F303A}"/>
              </a:ext>
            </a:extLst>
          </p:cNvPr>
          <p:cNvSpPr>
            <a:spLocks noGrp="1"/>
          </p:cNvSpPr>
          <p:nvPr/>
        </p:nvSpPr>
        <p:spPr>
          <a:xfrm>
            <a:off x="29077920" y="19570931"/>
            <a:ext cx="13213080" cy="5942318"/>
          </a:xfrm>
          <a:prstGeom prst="rect">
            <a:avLst/>
          </a:prstGeom>
        </p:spPr>
        <p:txBody>
          <a:bodyPr lIns="0" tIns="0" rIns="0" bIns="0"/>
          <a:lstStyle/>
          <a:p>
            <a:pPr>
              <a:defRPr sz="3960">
                <a:solidFill>
                  <a:srgbClr val="16355B"/>
                </a:solidFill>
              </a:defRPr>
            </a:pPr>
            <a:r>
              <a:rPr sz="3780" dirty="0">
                <a:solidFill>
                  <a:srgbClr val="16355B"/>
                </a:solidFill>
              </a:rPr>
              <a:t>Age, BMI, and physical activity appear to be among the strongest predictors because they show clear differences between diabetes and non-diabetes groups.</a:t>
            </a:r>
            <a:endParaRPr lang="en-US" sz="3780" dirty="0">
              <a:solidFill>
                <a:srgbClr val="16355B"/>
              </a:solidFill>
            </a:endParaRPr>
          </a:p>
          <a:p>
            <a:pPr>
              <a:defRPr sz="3960">
                <a:solidFill>
                  <a:srgbClr val="16355B"/>
                </a:solidFill>
              </a:defRPr>
            </a:pPr>
            <a:r>
              <a:rPr lang="en-US" sz="3780" dirty="0">
                <a:solidFill>
                  <a:srgbClr val="16355B"/>
                </a:solidFill>
              </a:rPr>
              <a:t>Model flexibility matters too. T</a:t>
            </a:r>
            <a:r>
              <a:rPr lang="en-US" sz="3780" dirty="0"/>
              <a:t>he polynomial kernel performed best, which shows nonlinear relationships in the data, although all models had very low sensitivity.</a:t>
            </a:r>
            <a:br>
              <a:rPr lang="en-US" sz="3780" dirty="0"/>
            </a:br>
            <a:r>
              <a:rPr lang="en-US" sz="3780" dirty="0"/>
              <a:t>These patterns are predictive rather than causal. Lower work hours or lower activity may partly reflect the consequences of diabetes rather than causes of diabetes.</a:t>
            </a:r>
            <a:endParaRPr lang="en-US" sz="3780" dirty="0">
              <a:solidFill>
                <a:srgbClr val="16355B"/>
              </a:solidFill>
            </a:endParaRPr>
          </a:p>
          <a:p>
            <a:pPr>
              <a:defRPr sz="3960">
                <a:solidFill>
                  <a:srgbClr val="16355B"/>
                </a:solidFill>
              </a:defRPr>
            </a:pPr>
            <a:endParaRPr lang="en-US" sz="3780" dirty="0">
              <a:solidFill>
                <a:srgbClr val="16355B"/>
              </a:solidFill>
            </a:endParaRPr>
          </a:p>
          <a:p>
            <a:pPr>
              <a:defRPr sz="3960">
                <a:solidFill>
                  <a:srgbClr val="16355B"/>
                </a:solidFill>
              </a:defRPr>
            </a:pPr>
            <a:endParaRPr sz="3780" dirty="0">
              <a:solidFill>
                <a:srgbClr val="16355B"/>
              </a:solidFill>
            </a:endParaRPr>
          </a:p>
        </p:txBody>
      </p:sp>
      <p:sp>
        <p:nvSpPr>
          <p:cNvPr id="49" name="Rectangle 48">
            <a:extLst>
              <a:ext uri="{FF2B5EF4-FFF2-40B4-BE49-F238E27FC236}">
                <a16:creationId xmlns:a16="http://schemas.microsoft.com/office/drawing/2014/main" id="{F4C81E54-E654-4CDB-92D5-D3C2D898D820}"/>
              </a:ext>
            </a:extLst>
          </p:cNvPr>
          <p:cNvSpPr>
            <a:spLocks noGrp="1"/>
          </p:cNvSpPr>
          <p:nvPr/>
        </p:nvSpPr>
        <p:spPr>
          <a:xfrm>
            <a:off x="29077919" y="25448381"/>
            <a:ext cx="12344400" cy="731520"/>
          </a:xfrm>
          <a:prstGeom prst="rect">
            <a:avLst/>
          </a:prstGeom>
        </p:spPr>
        <p:txBody>
          <a:bodyPr lIns="0" tIns="0" rIns="0" bIns="0"/>
          <a:lstStyle/>
          <a:p>
            <a:pPr>
              <a:defRPr sz="5580" b="1">
                <a:solidFill>
                  <a:srgbClr val="16355B"/>
                </a:solidFill>
              </a:defRPr>
            </a:pPr>
            <a:r>
              <a:rPr sz="5580" b="1" dirty="0">
                <a:solidFill>
                  <a:srgbClr val="16355B"/>
                </a:solidFill>
              </a:rPr>
              <a:t>Conclusions</a:t>
            </a:r>
          </a:p>
        </p:txBody>
      </p:sp>
      <p:sp>
        <p:nvSpPr>
          <p:cNvPr id="51" name="Rectangle 50">
            <a:extLst>
              <a:ext uri="{FF2B5EF4-FFF2-40B4-BE49-F238E27FC236}">
                <a16:creationId xmlns:a16="http://schemas.microsoft.com/office/drawing/2014/main" id="{BEFB703E-DB9E-459B-9BEA-DB321A393A84}"/>
              </a:ext>
            </a:extLst>
          </p:cNvPr>
          <p:cNvSpPr>
            <a:spLocks noGrp="1"/>
          </p:cNvSpPr>
          <p:nvPr/>
        </p:nvSpPr>
        <p:spPr>
          <a:xfrm>
            <a:off x="29077919" y="26410580"/>
            <a:ext cx="13213081" cy="1508760"/>
          </a:xfrm>
          <a:prstGeom prst="rect">
            <a:avLst/>
          </a:prstGeom>
        </p:spPr>
        <p:txBody>
          <a:bodyPr lIns="0" tIns="0" rIns="0" bIns="0"/>
          <a:lstStyle/>
          <a:p>
            <a:pPr>
              <a:defRPr sz="3960">
                <a:solidFill>
                  <a:srgbClr val="16355B"/>
                </a:solidFill>
              </a:defRPr>
            </a:pPr>
            <a:r>
              <a:rPr sz="3780" dirty="0">
                <a:solidFill>
                  <a:srgbClr val="16355B"/>
                </a:solidFill>
              </a:rPr>
              <a:t>This analysis </a:t>
            </a:r>
            <a:r>
              <a:rPr lang="en-US" sz="3780" dirty="0">
                <a:solidFill>
                  <a:srgbClr val="16355B"/>
                </a:solidFill>
              </a:rPr>
              <a:t>illustrate</a:t>
            </a:r>
            <a:r>
              <a:rPr sz="3780" dirty="0">
                <a:solidFill>
                  <a:srgbClr val="16355B"/>
                </a:solidFill>
              </a:rPr>
              <a:t>s that SVMs provide a useful framework for comparing linear and nonlinear boundaries in a large health-survey dataset.</a:t>
            </a:r>
            <a:endParaRPr lang="en-US" sz="3780" dirty="0">
              <a:solidFill>
                <a:srgbClr val="16355B"/>
              </a:solidFill>
            </a:endParaRPr>
          </a:p>
          <a:p>
            <a:pPr>
              <a:defRPr sz="3960">
                <a:solidFill>
                  <a:srgbClr val="16355B"/>
                </a:solidFill>
              </a:defRPr>
            </a:pPr>
            <a:r>
              <a:rPr lang="en-US" sz="3780" dirty="0">
                <a:solidFill>
                  <a:srgbClr val="16355B"/>
                </a:solidFill>
              </a:rPr>
              <a:t>In practical terms, older age, higher BMI, and lower activity are likely to be important signals for diabetes risk. Prevention and screening efforts should focus on obesity, physical activity, and older adults.</a:t>
            </a:r>
          </a:p>
          <a:p>
            <a:pPr>
              <a:defRPr sz="3960">
                <a:solidFill>
                  <a:srgbClr val="16355B"/>
                </a:solidFill>
              </a:defRPr>
            </a:pPr>
            <a:r>
              <a:rPr lang="en-US" sz="3780" dirty="0">
                <a:solidFill>
                  <a:srgbClr val="16355B"/>
                </a:solidFill>
              </a:rPr>
              <a:t>Ethical note: demographic variables may improve prediction, but they can also reflect structural inequalities. Predictive use should be transparent and should not reinforce unfair treatment.</a:t>
            </a:r>
          </a:p>
          <a:p>
            <a:pPr>
              <a:defRPr sz="3960">
                <a:solidFill>
                  <a:srgbClr val="16355B"/>
                </a:solidFill>
              </a:defRPr>
            </a:pPr>
            <a:endParaRPr sz="3780" dirty="0">
              <a:solidFill>
                <a:srgbClr val="16355B"/>
              </a:solidFill>
            </a:endParaRPr>
          </a:p>
        </p:txBody>
      </p:sp>
      <p:sp>
        <p:nvSpPr>
          <p:cNvPr id="54" name="Rectangle 53">
            <a:extLst>
              <a:ext uri="{FF2B5EF4-FFF2-40B4-BE49-F238E27FC236}">
                <a16:creationId xmlns:a16="http://schemas.microsoft.com/office/drawing/2014/main" id="{A26B0CA1-EC83-481A-AF28-794975E62DA0}"/>
              </a:ext>
            </a:extLst>
          </p:cNvPr>
          <p:cNvSpPr>
            <a:spLocks noGrp="1"/>
          </p:cNvSpPr>
          <p:nvPr/>
        </p:nvSpPr>
        <p:spPr>
          <a:xfrm>
            <a:off x="1600198" y="2790269"/>
            <a:ext cx="41937434" cy="542791"/>
          </a:xfrm>
          <a:prstGeom prst="rect">
            <a:avLst/>
          </a:prstGeom>
        </p:spPr>
        <p:txBody>
          <a:bodyPr lIns="0" tIns="0" rIns="0" bIns="0"/>
          <a:lstStyle/>
          <a:p>
            <a:pPr>
              <a:defRPr sz="2520">
                <a:solidFill>
                  <a:srgbClr val="56616F"/>
                </a:solidFill>
              </a:defRPr>
            </a:pPr>
            <a:r>
              <a:rPr lang="en-US" sz="2800" dirty="0">
                <a:solidFill>
                  <a:schemeClr val="bg1"/>
                </a:solidFill>
              </a:rPr>
              <a:t>IPUMS Health Surveys, Minnesota Population Center (2022) – NHIS (accessed via course </a:t>
            </a:r>
            <a:r>
              <a:rPr lang="en-US" sz="2800">
                <a:solidFill>
                  <a:schemeClr val="bg1"/>
                </a:solidFill>
              </a:rPr>
              <a:t>GitHub), James </a:t>
            </a:r>
            <a:r>
              <a:rPr lang="en-US" sz="2800" dirty="0">
                <a:solidFill>
                  <a:schemeClr val="bg1"/>
                </a:solidFill>
              </a:rPr>
              <a:t>et al. (2023), Meyer et al. (2023)</a:t>
            </a:r>
            <a:endParaRPr sz="2800" dirty="0">
              <a:solidFill>
                <a:schemeClr val="bg1"/>
              </a:solidFill>
            </a:endParaRPr>
          </a:p>
        </p:txBody>
      </p:sp>
      <p:sp>
        <p:nvSpPr>
          <p:cNvPr id="56" name="Rectangle: Rounded Corners 55">
            <a:extLst>
              <a:ext uri="{FF2B5EF4-FFF2-40B4-BE49-F238E27FC236}">
                <a16:creationId xmlns:a16="http://schemas.microsoft.com/office/drawing/2014/main" id="{22D6E442-661D-A46E-8EA0-A2434D8AB020}"/>
              </a:ext>
            </a:extLst>
          </p:cNvPr>
          <p:cNvSpPr/>
          <p:nvPr/>
        </p:nvSpPr>
        <p:spPr>
          <a:xfrm>
            <a:off x="1018794" y="28096499"/>
            <a:ext cx="12364212" cy="4456141"/>
          </a:xfrm>
          <a:prstGeom prst="roundRect">
            <a:avLst/>
          </a:prstGeom>
          <a:noFill/>
          <a:ln>
            <a:solidFill>
              <a:srgbClr val="2B67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Rounded Corners 59">
            <a:extLst>
              <a:ext uri="{FF2B5EF4-FFF2-40B4-BE49-F238E27FC236}">
                <a16:creationId xmlns:a16="http://schemas.microsoft.com/office/drawing/2014/main" id="{00768393-99F6-4CEC-1215-A794C0686CF5}"/>
              </a:ext>
            </a:extLst>
          </p:cNvPr>
          <p:cNvSpPr/>
          <p:nvPr/>
        </p:nvSpPr>
        <p:spPr>
          <a:xfrm>
            <a:off x="1092708" y="4892733"/>
            <a:ext cx="12364212" cy="8066890"/>
          </a:xfrm>
          <a:prstGeom prst="roundRect">
            <a:avLst/>
          </a:prstGeom>
          <a:noFill/>
          <a:ln>
            <a:solidFill>
              <a:srgbClr val="2B67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Rounded Corners 60">
            <a:extLst>
              <a:ext uri="{FF2B5EF4-FFF2-40B4-BE49-F238E27FC236}">
                <a16:creationId xmlns:a16="http://schemas.microsoft.com/office/drawing/2014/main" id="{7A5B5E7C-1050-5751-8DEB-D63A87AB664A}"/>
              </a:ext>
            </a:extLst>
          </p:cNvPr>
          <p:cNvSpPr/>
          <p:nvPr/>
        </p:nvSpPr>
        <p:spPr>
          <a:xfrm>
            <a:off x="1018794" y="19570931"/>
            <a:ext cx="12364212" cy="8147858"/>
          </a:xfrm>
          <a:prstGeom prst="roundRect">
            <a:avLst/>
          </a:prstGeom>
          <a:noFill/>
          <a:ln>
            <a:solidFill>
              <a:srgbClr val="2B67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Rounded Corners 61">
            <a:extLst>
              <a:ext uri="{FF2B5EF4-FFF2-40B4-BE49-F238E27FC236}">
                <a16:creationId xmlns:a16="http://schemas.microsoft.com/office/drawing/2014/main" id="{630B3F27-937B-E7DB-FA3D-3C31D8818F87}"/>
              </a:ext>
            </a:extLst>
          </p:cNvPr>
          <p:cNvSpPr/>
          <p:nvPr/>
        </p:nvSpPr>
        <p:spPr>
          <a:xfrm>
            <a:off x="1036805" y="13258739"/>
            <a:ext cx="12364212" cy="5983925"/>
          </a:xfrm>
          <a:prstGeom prst="roundRect">
            <a:avLst/>
          </a:prstGeom>
          <a:noFill/>
          <a:ln>
            <a:solidFill>
              <a:srgbClr val="2B67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Rounded Corners 62">
            <a:extLst>
              <a:ext uri="{FF2B5EF4-FFF2-40B4-BE49-F238E27FC236}">
                <a16:creationId xmlns:a16="http://schemas.microsoft.com/office/drawing/2014/main" id="{F80BC84D-1C22-5972-AF88-7F3EAB05B8DB}"/>
              </a:ext>
            </a:extLst>
          </p:cNvPr>
          <p:cNvSpPr/>
          <p:nvPr/>
        </p:nvSpPr>
        <p:spPr>
          <a:xfrm>
            <a:off x="13978671" y="4892733"/>
            <a:ext cx="13864045" cy="14488763"/>
          </a:xfrm>
          <a:prstGeom prst="roundRect">
            <a:avLst/>
          </a:prstGeom>
          <a:noFill/>
          <a:ln>
            <a:solidFill>
              <a:srgbClr val="2B67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Rounded Corners 63">
            <a:extLst>
              <a:ext uri="{FF2B5EF4-FFF2-40B4-BE49-F238E27FC236}">
                <a16:creationId xmlns:a16="http://schemas.microsoft.com/office/drawing/2014/main" id="{2FE55117-96BB-4BC6-7917-F711FA9A2BBF}"/>
              </a:ext>
            </a:extLst>
          </p:cNvPr>
          <p:cNvSpPr/>
          <p:nvPr/>
        </p:nvSpPr>
        <p:spPr>
          <a:xfrm>
            <a:off x="28123897" y="4893238"/>
            <a:ext cx="14726133" cy="13023273"/>
          </a:xfrm>
          <a:prstGeom prst="roundRect">
            <a:avLst/>
          </a:prstGeom>
          <a:noFill/>
          <a:ln>
            <a:solidFill>
              <a:srgbClr val="2B67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9" name="Add-in 68">
                <a:extLst>
                  <a:ext uri="{FF2B5EF4-FFF2-40B4-BE49-F238E27FC236}">
                    <a16:creationId xmlns:a16="http://schemas.microsoft.com/office/drawing/2014/main" id="{830FC832-E781-7B5F-234B-F3D73348EC51}"/>
                  </a:ext>
                </a:extLst>
              </p:cNvPr>
              <p:cNvGraphicFramePr>
                <a:graphicFrameLocks noGrp="1"/>
              </p:cNvGraphicFramePr>
              <p:nvPr>
                <p:extLst>
                  <p:ext uri="{D42A27DB-BD31-4B8C-83A1-F6EECF244321}">
                    <p14:modId xmlns:p14="http://schemas.microsoft.com/office/powerpoint/2010/main" val="2060771814"/>
                  </p:ext>
                </p:extLst>
              </p:nvPr>
            </p:nvGraphicFramePr>
            <p:xfrm>
              <a:off x="14834650" y="5608989"/>
              <a:ext cx="12393931" cy="8270152"/>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9" name="Add-in 68">
                <a:extLst>
                  <a:ext uri="{FF2B5EF4-FFF2-40B4-BE49-F238E27FC236}">
                    <a16:creationId xmlns:a16="http://schemas.microsoft.com/office/drawing/2014/main" id="{830FC832-E781-7B5F-234B-F3D73348EC51}"/>
                  </a:ext>
                </a:extLst>
              </p:cNvPr>
              <p:cNvPicPr>
                <a:picLocks noGrp="1" noRot="1" noChangeAspect="1" noMove="1" noResize="1" noEditPoints="1" noAdjustHandles="1" noChangeArrowheads="1" noChangeShapeType="1"/>
              </p:cNvPicPr>
              <p:nvPr/>
            </p:nvPicPr>
            <p:blipFill>
              <a:blip r:embed="rId4"/>
              <a:stretch>
                <a:fillRect/>
              </a:stretch>
            </p:blipFill>
            <p:spPr>
              <a:xfrm>
                <a:off x="14834650" y="5608989"/>
                <a:ext cx="12393931" cy="8270152"/>
              </a:xfrm>
              <a:prstGeom prst="rect">
                <a:avLst/>
              </a:prstGeom>
            </p:spPr>
          </p:pic>
        </mc:Fallback>
      </mc:AlternateContent>
      <mc:AlternateContent xmlns:mc="http://schemas.openxmlformats.org/markup-compatibility/2006">
        <mc:Choice xmlns:we="http://schemas.microsoft.com/office/webextensions/webextension/2010/11" xmlns:pca="http://schemas.microsoft.com/office/powerpoint/2013/contentapp" Requires="we pca">
          <p:graphicFrame>
            <p:nvGraphicFramePr>
              <p:cNvPr id="71" name="Add-in 70">
                <a:extLst>
                  <a:ext uri="{FF2B5EF4-FFF2-40B4-BE49-F238E27FC236}">
                    <a16:creationId xmlns:a16="http://schemas.microsoft.com/office/drawing/2014/main" id="{545DE294-254C-7D55-9227-7D1700F05C37}"/>
                  </a:ext>
                </a:extLst>
              </p:cNvPr>
              <p:cNvGraphicFramePr>
                <a:graphicFrameLocks noGrp="1"/>
              </p:cNvGraphicFramePr>
              <p:nvPr>
                <p:extLst>
                  <p:ext uri="{D42A27DB-BD31-4B8C-83A1-F6EECF244321}">
                    <p14:modId xmlns:p14="http://schemas.microsoft.com/office/powerpoint/2010/main" val="1760936292"/>
                  </p:ext>
                </p:extLst>
              </p:nvPr>
            </p:nvGraphicFramePr>
            <p:xfrm>
              <a:off x="14228631" y="23024518"/>
              <a:ext cx="13312040" cy="4388192"/>
            </p:xfrm>
            <a:graphic>
              <a:graphicData uri="http://schemas.microsoft.com/office/webextensions/webextension/2010/11">
                <we:webextensionref xmlns:we="http://schemas.microsoft.com/office/webextensions/webextension/2010/11" xmlns:r="http://schemas.openxmlformats.org/officeDocument/2006/relationships" r:id="rId5"/>
              </a:graphicData>
            </a:graphic>
          </p:graphicFrame>
        </mc:Choice>
        <mc:Fallback>
          <p:pic>
            <p:nvPicPr>
              <p:cNvPr id="71" name="Add-in 70">
                <a:extLst>
                  <a:ext uri="{FF2B5EF4-FFF2-40B4-BE49-F238E27FC236}">
                    <a16:creationId xmlns:a16="http://schemas.microsoft.com/office/drawing/2014/main" id="{545DE294-254C-7D55-9227-7D1700F05C37}"/>
                  </a:ext>
                </a:extLst>
              </p:cNvPr>
              <p:cNvPicPr>
                <a:picLocks noGrp="1" noRot="1" noChangeAspect="1" noMove="1" noResize="1" noEditPoints="1" noAdjustHandles="1" noChangeArrowheads="1" noChangeShapeType="1"/>
              </p:cNvPicPr>
              <p:nvPr/>
            </p:nvPicPr>
            <p:blipFill>
              <a:blip r:embed="rId6"/>
              <a:stretch>
                <a:fillRect/>
              </a:stretch>
            </p:blipFill>
            <p:spPr>
              <a:xfrm>
                <a:off x="14228631" y="23024518"/>
                <a:ext cx="13312040" cy="4388192"/>
              </a:xfrm>
              <a:prstGeom prst="rect">
                <a:avLst/>
              </a:prstGeom>
            </p:spPr>
          </p:pic>
        </mc:Fallback>
      </mc:AlternateContent>
      <p:graphicFrame>
        <p:nvGraphicFramePr>
          <p:cNvPr id="72" name="Table 71">
            <a:extLst>
              <a:ext uri="{FF2B5EF4-FFF2-40B4-BE49-F238E27FC236}">
                <a16:creationId xmlns:a16="http://schemas.microsoft.com/office/drawing/2014/main" id="{54637514-6642-5C8B-FB17-8D3A5A8E7965}"/>
              </a:ext>
            </a:extLst>
          </p:cNvPr>
          <p:cNvGraphicFramePr>
            <a:graphicFrameLocks noGrp="1"/>
          </p:cNvGraphicFramePr>
          <p:nvPr>
            <p:extLst>
              <p:ext uri="{D42A27DB-BD31-4B8C-83A1-F6EECF244321}">
                <p14:modId xmlns:p14="http://schemas.microsoft.com/office/powerpoint/2010/main" val="105427282"/>
              </p:ext>
            </p:extLst>
          </p:nvPr>
        </p:nvGraphicFramePr>
        <p:xfrm>
          <a:off x="14223219" y="27501741"/>
          <a:ext cx="13107784" cy="3677362"/>
        </p:xfrm>
        <a:graphic>
          <a:graphicData uri="http://schemas.openxmlformats.org/drawingml/2006/table">
            <a:tbl>
              <a:tblPr>
                <a:tableStyleId>{ED083AE6-46FA-4A59-8FB0-9F97EB10719F}</a:tableStyleId>
              </a:tblPr>
              <a:tblGrid>
                <a:gridCol w="2553547">
                  <a:extLst>
                    <a:ext uri="{9D8B030D-6E8A-4147-A177-3AD203B41FA5}">
                      <a16:colId xmlns:a16="http://schemas.microsoft.com/office/drawing/2014/main" val="453066703"/>
                    </a:ext>
                  </a:extLst>
                </a:gridCol>
                <a:gridCol w="2093528">
                  <a:extLst>
                    <a:ext uri="{9D8B030D-6E8A-4147-A177-3AD203B41FA5}">
                      <a16:colId xmlns:a16="http://schemas.microsoft.com/office/drawing/2014/main" val="949720663"/>
                    </a:ext>
                  </a:extLst>
                </a:gridCol>
                <a:gridCol w="1641629">
                  <a:extLst>
                    <a:ext uri="{9D8B030D-6E8A-4147-A177-3AD203B41FA5}">
                      <a16:colId xmlns:a16="http://schemas.microsoft.com/office/drawing/2014/main" val="3394423180"/>
                    </a:ext>
                  </a:extLst>
                </a:gridCol>
                <a:gridCol w="1641629">
                  <a:extLst>
                    <a:ext uri="{9D8B030D-6E8A-4147-A177-3AD203B41FA5}">
                      <a16:colId xmlns:a16="http://schemas.microsoft.com/office/drawing/2014/main" val="4070466350"/>
                    </a:ext>
                  </a:extLst>
                </a:gridCol>
                <a:gridCol w="1363816">
                  <a:extLst>
                    <a:ext uri="{9D8B030D-6E8A-4147-A177-3AD203B41FA5}">
                      <a16:colId xmlns:a16="http://schemas.microsoft.com/office/drawing/2014/main" val="3624827742"/>
                    </a:ext>
                  </a:extLst>
                </a:gridCol>
                <a:gridCol w="2449819">
                  <a:extLst>
                    <a:ext uri="{9D8B030D-6E8A-4147-A177-3AD203B41FA5}">
                      <a16:colId xmlns:a16="http://schemas.microsoft.com/office/drawing/2014/main" val="2795738127"/>
                    </a:ext>
                  </a:extLst>
                </a:gridCol>
                <a:gridCol w="1363816">
                  <a:extLst>
                    <a:ext uri="{9D8B030D-6E8A-4147-A177-3AD203B41FA5}">
                      <a16:colId xmlns:a16="http://schemas.microsoft.com/office/drawing/2014/main" val="1720420983"/>
                    </a:ext>
                  </a:extLst>
                </a:gridCol>
              </a:tblGrid>
              <a:tr h="106162">
                <a:tc>
                  <a:txBody>
                    <a:bodyPr/>
                    <a:lstStyle/>
                    <a:p>
                      <a:pPr algn="ctr" fontAlgn="b">
                        <a:buNone/>
                      </a:pPr>
                      <a:r>
                        <a:rPr lang="en-US" sz="3000" u="none" strike="noStrike" dirty="0">
                          <a:solidFill>
                            <a:schemeClr val="bg1"/>
                          </a:solidFill>
                          <a:effectLst/>
                        </a:rPr>
                        <a:t>Model</a:t>
                      </a:r>
                      <a:endParaRPr lang="en-US" sz="3000" b="1" i="0" u="none" strike="noStrike" dirty="0">
                        <a:solidFill>
                          <a:schemeClr val="bg1"/>
                        </a:solidFill>
                        <a:effectLst/>
                        <a:latin typeface="Calibri" panose="020F0502020204030204" pitchFamily="34" charset="0"/>
                      </a:endParaRPr>
                    </a:p>
                  </a:txBody>
                  <a:tcPr marL="7620" marR="7620" marT="7620" marB="0" anchor="b">
                    <a:solidFill>
                      <a:srgbClr val="2B6777"/>
                    </a:solidFill>
                  </a:tcPr>
                </a:tc>
                <a:tc>
                  <a:txBody>
                    <a:bodyPr/>
                    <a:lstStyle/>
                    <a:p>
                      <a:pPr algn="ctr" fontAlgn="b">
                        <a:buNone/>
                      </a:pPr>
                      <a:r>
                        <a:rPr lang="en-US" sz="3000" u="none" strike="noStrike" dirty="0">
                          <a:solidFill>
                            <a:schemeClr val="bg1"/>
                          </a:solidFill>
                          <a:effectLst/>
                        </a:rPr>
                        <a:t>Accuracy</a:t>
                      </a:r>
                      <a:endParaRPr lang="en-US" sz="3000" b="1" i="0" u="none" strike="noStrike" dirty="0">
                        <a:solidFill>
                          <a:schemeClr val="bg1"/>
                        </a:solidFill>
                        <a:effectLst/>
                        <a:latin typeface="Calibri" panose="020F0502020204030204" pitchFamily="34" charset="0"/>
                      </a:endParaRPr>
                    </a:p>
                  </a:txBody>
                  <a:tcPr marL="7620" marR="7620" marT="7620" marB="0" anchor="b">
                    <a:solidFill>
                      <a:srgbClr val="2B6777"/>
                    </a:solidFill>
                  </a:tcPr>
                </a:tc>
                <a:tc>
                  <a:txBody>
                    <a:bodyPr/>
                    <a:lstStyle/>
                    <a:p>
                      <a:pPr algn="ctr" fontAlgn="b">
                        <a:buNone/>
                      </a:pPr>
                      <a:r>
                        <a:rPr lang="en-US" sz="3000" u="none" strike="noStrike" dirty="0">
                          <a:solidFill>
                            <a:schemeClr val="bg1"/>
                          </a:solidFill>
                          <a:effectLst/>
                        </a:rPr>
                        <a:t>Sensitivity</a:t>
                      </a:r>
                      <a:endParaRPr lang="en-US" sz="3000" b="1" i="0" u="none" strike="noStrike" dirty="0">
                        <a:solidFill>
                          <a:schemeClr val="bg1"/>
                        </a:solidFill>
                        <a:effectLst/>
                        <a:latin typeface="Calibri" panose="020F0502020204030204" pitchFamily="34" charset="0"/>
                      </a:endParaRPr>
                    </a:p>
                  </a:txBody>
                  <a:tcPr marL="7620" marR="7620" marT="7620" marB="0" anchor="b">
                    <a:solidFill>
                      <a:srgbClr val="2B6777"/>
                    </a:solidFill>
                  </a:tcPr>
                </a:tc>
                <a:tc>
                  <a:txBody>
                    <a:bodyPr/>
                    <a:lstStyle/>
                    <a:p>
                      <a:pPr algn="ctr" fontAlgn="b">
                        <a:buNone/>
                      </a:pPr>
                      <a:r>
                        <a:rPr lang="en-US" sz="3000" u="none" strike="noStrike" dirty="0">
                          <a:solidFill>
                            <a:schemeClr val="bg1"/>
                          </a:solidFill>
                          <a:effectLst/>
                        </a:rPr>
                        <a:t>Specificity</a:t>
                      </a:r>
                      <a:endParaRPr lang="en-US" sz="3000" b="1" i="0" u="none" strike="noStrike" dirty="0">
                        <a:solidFill>
                          <a:schemeClr val="bg1"/>
                        </a:solidFill>
                        <a:effectLst/>
                        <a:latin typeface="Calibri" panose="020F0502020204030204" pitchFamily="34" charset="0"/>
                      </a:endParaRPr>
                    </a:p>
                  </a:txBody>
                  <a:tcPr marL="7620" marR="7620" marT="7620" marB="0" anchor="b">
                    <a:solidFill>
                      <a:srgbClr val="2B6777"/>
                    </a:solidFill>
                  </a:tcPr>
                </a:tc>
                <a:tc>
                  <a:txBody>
                    <a:bodyPr/>
                    <a:lstStyle/>
                    <a:p>
                      <a:pPr algn="ctr" fontAlgn="b">
                        <a:buNone/>
                      </a:pPr>
                      <a:r>
                        <a:rPr lang="en-US" sz="3000" u="none" strike="noStrike" dirty="0">
                          <a:solidFill>
                            <a:schemeClr val="bg1"/>
                          </a:solidFill>
                          <a:effectLst/>
                        </a:rPr>
                        <a:t>F1</a:t>
                      </a:r>
                      <a:endParaRPr lang="en-US" sz="3000" b="1" i="0" u="none" strike="noStrike" dirty="0">
                        <a:solidFill>
                          <a:schemeClr val="bg1"/>
                        </a:solidFill>
                        <a:effectLst/>
                        <a:latin typeface="Calibri" panose="020F0502020204030204" pitchFamily="34" charset="0"/>
                      </a:endParaRPr>
                    </a:p>
                  </a:txBody>
                  <a:tcPr marL="7620" marR="7620" marT="7620" marB="0" anchor="b">
                    <a:solidFill>
                      <a:srgbClr val="2B6777"/>
                    </a:solidFill>
                  </a:tcPr>
                </a:tc>
                <a:tc>
                  <a:txBody>
                    <a:bodyPr/>
                    <a:lstStyle/>
                    <a:p>
                      <a:pPr algn="ctr" fontAlgn="b">
                        <a:buNone/>
                      </a:pPr>
                      <a:r>
                        <a:rPr lang="en-US" sz="3000" u="none" strike="noStrike" dirty="0">
                          <a:solidFill>
                            <a:schemeClr val="bg1"/>
                          </a:solidFill>
                          <a:effectLst/>
                        </a:rPr>
                        <a:t>Balanced Accuracy</a:t>
                      </a:r>
                      <a:endParaRPr lang="en-US" sz="3000" b="1" i="0" u="none" strike="noStrike" dirty="0">
                        <a:solidFill>
                          <a:schemeClr val="bg1"/>
                        </a:solidFill>
                        <a:effectLst/>
                        <a:latin typeface="Calibri" panose="020F0502020204030204" pitchFamily="34" charset="0"/>
                      </a:endParaRPr>
                    </a:p>
                  </a:txBody>
                  <a:tcPr marL="7620" marR="7620" marT="7620" marB="0" anchor="b">
                    <a:solidFill>
                      <a:srgbClr val="2B6777"/>
                    </a:solidFill>
                  </a:tcPr>
                </a:tc>
                <a:tc>
                  <a:txBody>
                    <a:bodyPr/>
                    <a:lstStyle/>
                    <a:p>
                      <a:pPr algn="ctr" fontAlgn="b">
                        <a:buNone/>
                      </a:pPr>
                      <a:r>
                        <a:rPr lang="en-US" sz="3000" u="none" strike="noStrike" dirty="0">
                          <a:solidFill>
                            <a:schemeClr val="bg1"/>
                          </a:solidFill>
                          <a:effectLst/>
                        </a:rPr>
                        <a:t>AUC</a:t>
                      </a:r>
                      <a:endParaRPr lang="en-US" sz="3000" b="1" i="0" u="none" strike="noStrike" dirty="0">
                        <a:solidFill>
                          <a:schemeClr val="bg1"/>
                        </a:solidFill>
                        <a:effectLst/>
                        <a:latin typeface="Calibri" panose="020F0502020204030204" pitchFamily="34" charset="0"/>
                      </a:endParaRPr>
                    </a:p>
                  </a:txBody>
                  <a:tcPr marL="7620" marR="7620" marT="7620" marB="0" anchor="b">
                    <a:solidFill>
                      <a:srgbClr val="2B6777"/>
                    </a:solidFill>
                  </a:tcPr>
                </a:tc>
                <a:extLst>
                  <a:ext uri="{0D108BD9-81ED-4DB2-BD59-A6C34878D82A}">
                    <a16:rowId xmlns:a16="http://schemas.microsoft.com/office/drawing/2014/main" val="1151166879"/>
                  </a:ext>
                </a:extLst>
              </a:tr>
              <a:tr h="916661">
                <a:tc>
                  <a:txBody>
                    <a:bodyPr/>
                    <a:lstStyle/>
                    <a:p>
                      <a:pPr algn="ctr" fontAlgn="b">
                        <a:buNone/>
                      </a:pPr>
                      <a:r>
                        <a:rPr lang="en-US" sz="3000" u="none" strike="noStrike">
                          <a:effectLst/>
                        </a:rPr>
                        <a:t>Linear kernel</a:t>
                      </a:r>
                      <a:endParaRPr lang="en-US" sz="30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dirty="0">
                          <a:effectLst/>
                        </a:rPr>
                        <a:t>0.895</a:t>
                      </a:r>
                      <a:endParaRPr lang="en-US" sz="30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dirty="0">
                          <a:effectLst/>
                        </a:rPr>
                        <a:t>0.000</a:t>
                      </a:r>
                      <a:endParaRPr lang="en-US" sz="30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a:effectLst/>
                        </a:rPr>
                        <a:t>1.000</a:t>
                      </a:r>
                      <a:endParaRPr lang="en-US" sz="30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dirty="0" err="1">
                          <a:effectLst/>
                        </a:rPr>
                        <a:t>NaN</a:t>
                      </a:r>
                      <a:r>
                        <a:rPr lang="en-US" sz="3000" u="none" strike="noStrike" dirty="0">
                          <a:effectLst/>
                        </a:rPr>
                        <a:t> </a:t>
                      </a:r>
                      <a:endParaRPr lang="en-US" sz="30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a:effectLst/>
                        </a:rPr>
                        <a:t>0.500</a:t>
                      </a:r>
                      <a:endParaRPr lang="en-US" sz="30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dirty="0">
                          <a:effectLst/>
                        </a:rPr>
                        <a:t>0.556</a:t>
                      </a:r>
                      <a:endParaRPr lang="en-US" sz="3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12506902"/>
                  </a:ext>
                </a:extLst>
              </a:tr>
              <a:tr h="916661">
                <a:tc>
                  <a:txBody>
                    <a:bodyPr/>
                    <a:lstStyle/>
                    <a:p>
                      <a:pPr algn="ctr" fontAlgn="b">
                        <a:buNone/>
                      </a:pPr>
                      <a:r>
                        <a:rPr lang="en-US" sz="3000" u="none" strike="noStrike">
                          <a:effectLst/>
                        </a:rPr>
                        <a:t>Radial kernel</a:t>
                      </a:r>
                      <a:endParaRPr lang="en-US" sz="30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a:effectLst/>
                        </a:rPr>
                        <a:t>0.895</a:t>
                      </a:r>
                      <a:endParaRPr lang="en-US" sz="30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dirty="0">
                          <a:effectLst/>
                        </a:rPr>
                        <a:t>0.001</a:t>
                      </a:r>
                      <a:endParaRPr lang="en-US" sz="30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dirty="0">
                          <a:effectLst/>
                        </a:rPr>
                        <a:t>0.999</a:t>
                      </a:r>
                      <a:endParaRPr lang="en-US" sz="30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dirty="0">
                          <a:effectLst/>
                        </a:rPr>
                        <a:t>0.003</a:t>
                      </a:r>
                      <a:endParaRPr lang="en-US" sz="30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a:effectLst/>
                        </a:rPr>
                        <a:t>0.500</a:t>
                      </a:r>
                      <a:endParaRPr lang="en-US" sz="30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a:effectLst/>
                        </a:rPr>
                        <a:t>0.648</a:t>
                      </a:r>
                      <a:endParaRPr lang="en-US" sz="30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81540359"/>
                  </a:ext>
                </a:extLst>
              </a:tr>
              <a:tr h="916661">
                <a:tc>
                  <a:txBody>
                    <a:bodyPr/>
                    <a:lstStyle/>
                    <a:p>
                      <a:pPr algn="ctr" fontAlgn="b">
                        <a:buNone/>
                      </a:pPr>
                      <a:r>
                        <a:rPr lang="en-US" sz="3000" u="none" strike="noStrike" dirty="0">
                          <a:effectLst/>
                        </a:rPr>
                        <a:t>Polynomial kernel</a:t>
                      </a:r>
                      <a:endParaRPr lang="en-US" sz="30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dirty="0">
                          <a:effectLst/>
                        </a:rPr>
                        <a:t>0.894</a:t>
                      </a:r>
                      <a:endParaRPr lang="en-US" sz="30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dirty="0">
                          <a:effectLst/>
                        </a:rPr>
                        <a:t>0.007</a:t>
                      </a:r>
                      <a:endParaRPr lang="en-US" sz="30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dirty="0">
                          <a:effectLst/>
                        </a:rPr>
                        <a:t>0.998</a:t>
                      </a:r>
                      <a:endParaRPr lang="en-US" sz="30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dirty="0">
                          <a:effectLst/>
                        </a:rPr>
                        <a:t>0.013</a:t>
                      </a:r>
                      <a:endParaRPr lang="en-US" sz="30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dirty="0">
                          <a:effectLst/>
                        </a:rPr>
                        <a:t>0.502</a:t>
                      </a:r>
                      <a:endParaRPr lang="en-US" sz="30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buNone/>
                      </a:pPr>
                      <a:r>
                        <a:rPr lang="en-US" sz="3000" u="none" strike="noStrike" dirty="0">
                          <a:effectLst/>
                        </a:rPr>
                        <a:t>0.681</a:t>
                      </a:r>
                      <a:endParaRPr lang="en-US" sz="30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20057272"/>
                  </a:ext>
                </a:extLst>
              </a:tr>
            </a:tbl>
          </a:graphicData>
        </a:graphic>
      </p:graphicFrame>
      <p:sp>
        <p:nvSpPr>
          <p:cNvPr id="73" name="Rectangle: Rounded Corners 72">
            <a:extLst>
              <a:ext uri="{FF2B5EF4-FFF2-40B4-BE49-F238E27FC236}">
                <a16:creationId xmlns:a16="http://schemas.microsoft.com/office/drawing/2014/main" id="{6E722BD6-65C6-1EBC-2E9A-920FB42BD88A}"/>
              </a:ext>
            </a:extLst>
          </p:cNvPr>
          <p:cNvSpPr/>
          <p:nvPr/>
        </p:nvSpPr>
        <p:spPr>
          <a:xfrm>
            <a:off x="13926588" y="19740471"/>
            <a:ext cx="13916127" cy="12812169"/>
          </a:xfrm>
          <a:prstGeom prst="roundRect">
            <a:avLst/>
          </a:prstGeom>
          <a:noFill/>
          <a:ln>
            <a:solidFill>
              <a:srgbClr val="2B67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mage preview">
            <a:extLst>
              <a:ext uri="{FF2B5EF4-FFF2-40B4-BE49-F238E27FC236}">
                <a16:creationId xmlns:a16="http://schemas.microsoft.com/office/drawing/2014/main" id="{02262AF4-A52C-74A9-C3DD-77868B035EC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3929"/>
          <a:stretch>
            <a:fillRect/>
          </a:stretch>
        </p:blipFill>
        <p:spPr bwMode="auto">
          <a:xfrm>
            <a:off x="28598344" y="6073704"/>
            <a:ext cx="13777237" cy="8979656"/>
          </a:xfrm>
          <a:prstGeom prst="rect">
            <a:avLst/>
          </a:prstGeom>
          <a:noFill/>
          <a:extLst>
            <a:ext uri="{909E8E84-426E-40DD-AFC4-6F175D3DCCD1}">
              <a14:hiddenFill xmlns:a14="http://schemas.microsoft.com/office/drawing/2010/main">
                <a:solidFill>
                  <a:srgbClr val="FFFFFF"/>
                </a:solidFill>
              </a14:hiddenFill>
            </a:ext>
          </a:extLst>
        </p:spPr>
      </p:pic>
      <p:sp>
        <p:nvSpPr>
          <p:cNvPr id="74" name="Rectangle: Rounded Corners 73">
            <a:extLst>
              <a:ext uri="{FF2B5EF4-FFF2-40B4-BE49-F238E27FC236}">
                <a16:creationId xmlns:a16="http://schemas.microsoft.com/office/drawing/2014/main" id="{03A195B7-2E9E-F0B4-90E5-8AAC062A3AB3}"/>
              </a:ext>
            </a:extLst>
          </p:cNvPr>
          <p:cNvSpPr/>
          <p:nvPr/>
        </p:nvSpPr>
        <p:spPr>
          <a:xfrm>
            <a:off x="28101521" y="18345041"/>
            <a:ext cx="14748509" cy="6677062"/>
          </a:xfrm>
          <a:prstGeom prst="roundRect">
            <a:avLst/>
          </a:prstGeom>
          <a:noFill/>
          <a:ln>
            <a:solidFill>
              <a:srgbClr val="2B67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D2138125-C11A-B5AB-1499-B19D810086F0}"/>
              </a:ext>
            </a:extLst>
          </p:cNvPr>
          <p:cNvSpPr/>
          <p:nvPr/>
        </p:nvSpPr>
        <p:spPr>
          <a:xfrm>
            <a:off x="28123897" y="25315679"/>
            <a:ext cx="14726133" cy="7213169"/>
          </a:xfrm>
          <a:prstGeom prst="roundRect">
            <a:avLst/>
          </a:prstGeom>
          <a:noFill/>
          <a:ln>
            <a:solidFill>
              <a:srgbClr val="2B67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725774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1.png"/></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2.png"/></Relationships>
</file>

<file path=ppt/webextensions/webextension1.xml><?xml version="1.0" encoding="utf-8"?>
<we:webextension xmlns:we="http://schemas.microsoft.com/office/webextensions/webextension/2010/11" id="{7B815E28-45BC-4F95-B3DC-F83C77AFD8FC}">
  <we:reference id="wa200010207" version="1.0.0.0" store="en-US" storeType="OMEX"/>
  <we:alternateReferences>
    <we:reference id="wa200010207" version="1.0.0.0" store="" storeType="OMEX"/>
  </we:alternateReferences>
  <we:properties>
    <we:property name="embed_token" value="&quot;YqTSaIGS6Di1OpA-RSgxL6ETPLlMx_FSsEisIqGuQU0JDQI4yEzspZzUgfLT4-6c&quot;"/>
    <we:property name="project_type" value="&quot;visualisation&quot;"/>
    <we:property name="project_id" value="28699421"/>
  </we:properties>
  <we:bindings/>
  <we:snapshot xmlns:r="http://schemas.openxmlformats.org/officeDocument/2006/relationships" r:embed="rId1"/>
</we:webextension>
</file>

<file path=ppt/webextensions/webextension2.xml><?xml version="1.0" encoding="utf-8"?>
<we:webextension xmlns:we="http://schemas.microsoft.com/office/webextensions/webextension/2010/11" id="{65AAB91F-7563-46A7-8B1E-8C62B5276354}">
  <we:reference id="wa200010207" version="1.0.0.0" store="en-US" storeType="OMEX"/>
  <we:alternateReferences>
    <we:reference id="wa200010207" version="1.0.0.0" store="" storeType="OMEX"/>
  </we:alternateReferences>
  <we:properties>
    <we:property name="embed_token" value="&quot;0drqnsn91hqhCsUwdTo7nI_ZDgH6-f-NKD-soz8PEe6d2_k_SeS2C016eZs37jRa&quot;"/>
    <we:property name="project_type" value="&quot;visualisation&quot;"/>
    <we:property name="project_id" value="28699640"/>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otalTime>26</TotalTime>
  <Words>740</Words>
  <Application>Microsoft Office PowerPoint</Application>
  <DocSecurity>0</DocSecurity>
  <PresentationFormat>Custom</PresentationFormat>
  <Paragraphs>65</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Calibri</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Badamgarav Battushig</cp:lastModifiedBy>
  <cp:revision>3</cp:revision>
  <dcterms:created xsi:type="dcterms:W3CDTF">2026-04-25T05:22:54Z</dcterms:created>
  <dcterms:modified xsi:type="dcterms:W3CDTF">2026-04-26T08:27:29Z</dcterms:modified>
</cp:coreProperties>
</file>